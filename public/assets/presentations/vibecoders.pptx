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40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0" y="-457200"/>
            <a:ext cx="2743200" cy="2743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0" y="4114800"/>
            <a:ext cx="3657600" cy="36576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657600" y="1188719"/>
            <a:ext cx="4572000" cy="45720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2898002"/>
            <a:ext cx="112471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dirty="0" smtClean="0">
                <a:solidFill>
                  <a:srgbClr val="FFFFFF"/>
                </a:solidFill>
                <a:latin typeface="Segoe UI"/>
              </a:rPr>
              <a:t>⚡</a:t>
            </a:r>
            <a:r>
              <a:rPr lang="pl-PL" sz="4200" b="1" dirty="0" err="1">
                <a:solidFill>
                  <a:srgbClr val="FFFFFF"/>
                </a:solidFill>
                <a:latin typeface="Segoe UI"/>
              </a:rPr>
              <a:t>WorkTrace</a:t>
            </a:r>
            <a:endParaRPr sz="42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1717A"/>
                </a:solidFill>
                <a:latin typeface="Segoe UI"/>
              </a:rPr>
              <a:t>KrakHack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Do czego służy ta aplikacja?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>
                <a:solidFill>
                  <a:srgbClr val="CBD5E1"/>
                </a:solidFill>
                <a:latin typeface="Segoe UI"/>
              </a:rPr>
              <a:t>📂 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Wgrywasz</a:t>
            </a:r>
            <a:r>
              <a:rPr sz="19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plik</a:t>
            </a:r>
            <a:r>
              <a:rPr sz="1900" b="0" dirty="0">
                <a:solidFill>
                  <a:srgbClr val="CBD5E1"/>
                </a:solidFill>
                <a:latin typeface="Segoe UI"/>
              </a:rPr>
              <a:t> CSV z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nagraniami</a:t>
            </a:r>
            <a:r>
              <a:rPr sz="19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aktywności</a:t>
            </a:r>
            <a:r>
              <a:rPr sz="19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pracowników</a:t>
            </a:r>
            <a:endParaRPr sz="1900" b="0" dirty="0">
              <a:solidFill>
                <a:srgbClr val="CBD5E1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BD5E1"/>
                </a:solidFill>
                <a:latin typeface="Segoe UI"/>
              </a:rPr>
              <a:t>🔍  Aplikacja analizuje co pracownicy robią i ile czasu na to poświęcają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3969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>
                <a:solidFill>
                  <a:srgbClr val="CBD5E1"/>
                </a:solidFill>
                <a:latin typeface="Segoe UI"/>
              </a:rPr>
              <a:t>⚠️  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Wskazuje</a:t>
            </a:r>
            <a:r>
              <a:rPr sz="19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które</a:t>
            </a:r>
            <a:r>
              <a:rPr sz="19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kroki</a:t>
            </a:r>
            <a:r>
              <a:rPr sz="19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są</a:t>
            </a:r>
            <a:r>
              <a:rPr sz="19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nieefektywne</a:t>
            </a:r>
            <a:r>
              <a:rPr sz="19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i</a:t>
            </a:r>
            <a:r>
              <a:rPr sz="19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gdzie</a:t>
            </a:r>
            <a:r>
              <a:rPr sz="19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można</a:t>
            </a:r>
            <a:r>
              <a:rPr sz="19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zaoszczędzić</a:t>
            </a:r>
            <a:endParaRPr sz="1900" b="0" dirty="0">
              <a:solidFill>
                <a:srgbClr val="CBD5E1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61518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BD5E1"/>
                </a:solidFill>
                <a:latin typeface="Segoe UI"/>
              </a:rPr>
              <a:t>🤖  Generuje rekomendacje — co zautomatyzować żeby zaoszczędzić pieniądze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6799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>
                <a:solidFill>
                  <a:srgbClr val="CBD5E1"/>
                </a:solidFill>
                <a:latin typeface="Segoe UI"/>
              </a:rPr>
              <a:t>💬 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Możesz</a:t>
            </a:r>
            <a:r>
              <a:rPr sz="19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zadawać</a:t>
            </a:r>
            <a:r>
              <a:rPr sz="19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pytania</a:t>
            </a:r>
            <a:r>
              <a:rPr sz="1900" b="0" dirty="0">
                <a:solidFill>
                  <a:srgbClr val="CBD5E1"/>
                </a:solidFill>
                <a:latin typeface="Segoe UI"/>
              </a:rPr>
              <a:t> do AI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i</a:t>
            </a:r>
            <a:r>
              <a:rPr sz="19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otrzymać</a:t>
            </a:r>
            <a:r>
              <a:rPr sz="19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odpowiedź</a:t>
            </a:r>
            <a:r>
              <a:rPr sz="1900" b="0" dirty="0">
                <a:solidFill>
                  <a:srgbClr val="CBD5E1"/>
                </a:solidFill>
                <a:latin typeface="Segoe UI"/>
              </a:rPr>
              <a:t> w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prostym</a:t>
            </a:r>
            <a:r>
              <a:rPr sz="19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CBD5E1"/>
                </a:solidFill>
                <a:latin typeface="Segoe UI"/>
              </a:rPr>
              <a:t>języku</a:t>
            </a:r>
            <a:endParaRPr sz="1900" b="0" dirty="0">
              <a:solidFill>
                <a:srgbClr val="CBD5E1"/>
              </a:solidFill>
              <a:latin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03920" y="1280160"/>
            <a:ext cx="3017520" cy="822960"/>
          </a:xfrm>
          <a:prstGeom prst="rect">
            <a:avLst/>
          </a:prstGeom>
          <a:solidFill>
            <a:srgbClr val="181827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60A5FA"/>
                </a:solidFill>
                <a:latin typeface="Segoe UI"/>
              </a:rPr>
              <a:t>Dane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2084831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1717A"/>
                </a:solidFill>
                <a:latin typeface="Segoe U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468880"/>
            <a:ext cx="3017520" cy="822960"/>
          </a:xfrm>
          <a:prstGeom prst="rect">
            <a:avLst/>
          </a:prstGeom>
          <a:solidFill>
            <a:srgbClr val="1818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BBF24"/>
                </a:solidFill>
                <a:latin typeface="Segoe UI"/>
              </a:rPr>
              <a:t>Analiza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32735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1717A"/>
                </a:solidFill>
                <a:latin typeface="Segoe U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3657600"/>
            <a:ext cx="3017520" cy="822960"/>
          </a:xfrm>
          <a:prstGeom prst="rect">
            <a:avLst/>
          </a:prstGeom>
          <a:solidFill>
            <a:srgbClr val="1818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2C55E"/>
                </a:solidFill>
                <a:latin typeface="Segoe UI"/>
              </a:rPr>
              <a:t>Rekomendacje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44622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1717A"/>
                </a:solidFill>
                <a:latin typeface="Segoe U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4846320"/>
            <a:ext cx="3017520" cy="822960"/>
          </a:xfrm>
          <a:prstGeom prst="rect">
            <a:avLst/>
          </a:prstGeom>
          <a:solidFill>
            <a:srgbClr val="181827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87171"/>
                </a:solidFill>
                <a:latin typeface="Segoe UI"/>
              </a:rPr>
              <a:t>Oszczędności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Krok 1 — Wgraj dane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280160"/>
            <a:ext cx="594360" cy="59436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80B10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258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Segoe UI"/>
              </a:rPr>
              <a:t>Otwórz aplikację w przeglądarce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77439"/>
            <a:ext cx="594360" cy="5943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80B10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2315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Segoe UI"/>
              </a:rPr>
              <a:t>Kliknij przycisk „Upload CSV”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474720"/>
            <a:ext cx="594360" cy="5943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80B10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52043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Segoe UI"/>
              </a:rPr>
              <a:t>Wybierz plik eksportu z KYP.ai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572000"/>
            <a:ext cx="594360" cy="5943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80B10"/>
                </a:solidFill>
                <a:latin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617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Segoe UI"/>
              </a:rPr>
              <a:t>Poczekaj chwilę — gotowe!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3474720" cy="5029200"/>
          </a:xfrm>
          <a:prstGeom prst="rect">
            <a:avLst/>
          </a:prstGeom>
          <a:solidFill>
            <a:srgbClr val="181827"/>
          </a:solidFill>
          <a:ln w="9525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0A5FA"/>
                </a:solidFill>
                <a:latin typeface="Segoe UI"/>
              </a:rPr>
              <a:t>📁 Activity Sequence
Export - 2026.csv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2004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1717A"/>
                </a:solidFill>
                <a:latin typeface="Segoe UI"/>
              </a:rPr>
              <a:t>Plik CSV to tabela z informacjami:
kto, co i kiedy robił na komputerze.
Generowany automatycznie przez KYP.ai.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⚡ Dashboard — podsumowanie dla menedżera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CBD5E1"/>
                </a:solidFill>
                <a:latin typeface="Segoe UI"/>
              </a:rPr>
              <a:t>💰 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Miesięczny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koszt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ręcznej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pracy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—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ile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pieniędzy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firma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traci</a:t>
            </a:r>
            <a:endParaRPr sz="1800" b="0" dirty="0">
              <a:solidFill>
                <a:srgbClr val="CBD5E1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61848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🏆  Top 3 szanse na automatyzację z wyliczonymi oszczędnościami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93976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CBD5E1"/>
                </a:solidFill>
                <a:latin typeface="Segoe UI"/>
              </a:rPr>
              <a:t>🕐 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Wykres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: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gdzie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naprawdę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idzie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czas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pracowników</a:t>
            </a:r>
            <a:endParaRPr sz="1800" b="0" dirty="0">
              <a:solidFill>
                <a:srgbClr val="CBD5E1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569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🚨  Największy bottleneck — co najbardziej spowalnia proces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449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CBD5E1"/>
                </a:solidFill>
                <a:latin typeface="Segoe UI"/>
              </a:rPr>
              <a:t>📊 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Statystyki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: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pracownicy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,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aplikacje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,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warianty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procesu</a:t>
            </a:r>
            <a:endParaRPr sz="1800" b="0" dirty="0">
              <a:solidFill>
                <a:srgbClr val="CBD5E1"/>
              </a:solidFill>
              <a:latin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80960" y="1097280"/>
            <a:ext cx="2011680" cy="1188720"/>
          </a:xfrm>
          <a:prstGeom prst="rect">
            <a:avLst/>
          </a:prstGeom>
          <a:solidFill>
            <a:srgbClr val="181827"/>
          </a:solidFill>
          <a:ln w="9525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188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60A5FA"/>
                </a:solidFill>
                <a:latin typeface="Segoe UI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556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1717A"/>
                </a:solidFill>
                <a:latin typeface="Segoe UI"/>
              </a:rPr>
              <a:t>Pracowników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1097280"/>
            <a:ext cx="2011680" cy="1188720"/>
          </a:xfrm>
          <a:prstGeom prst="rect">
            <a:avLst/>
          </a:prstGeom>
          <a:solidFill>
            <a:srgbClr val="181827"/>
          </a:solidFill>
          <a:ln w="9525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66960" y="1188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2C55E"/>
                </a:solidFill>
                <a:latin typeface="Segoe UI"/>
              </a:rPr>
              <a:t>2.2M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17556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1717A"/>
                </a:solidFill>
                <a:latin typeface="Segoe UI"/>
              </a:rPr>
              <a:t>Zdarzeń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2468880"/>
            <a:ext cx="2011680" cy="1188720"/>
          </a:xfrm>
          <a:prstGeom prst="rect">
            <a:avLst/>
          </a:prstGeom>
          <a:solidFill>
            <a:srgbClr val="181827"/>
          </a:solidFill>
          <a:ln w="9525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0" y="25603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BBF24"/>
                </a:solidFill>
                <a:latin typeface="Segoe UI"/>
              </a:rPr>
              <a:t>25+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1272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1717A"/>
                </a:solidFill>
                <a:latin typeface="Segoe UI"/>
              </a:rPr>
              <a:t>Aplikacji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2468880"/>
            <a:ext cx="2011680" cy="1188720"/>
          </a:xfrm>
          <a:prstGeom prst="rect">
            <a:avLst/>
          </a:prstGeom>
          <a:solidFill>
            <a:srgbClr val="181827"/>
          </a:solidFill>
          <a:ln w="9525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66960" y="25603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87171"/>
                </a:solidFill>
                <a:latin typeface="Segoe UI"/>
              </a:rPr>
              <a:t>4h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31272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1717A"/>
                </a:solidFill>
                <a:latin typeface="Segoe UI"/>
              </a:rPr>
              <a:t>Śr. bottleneck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12064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Segoe UI"/>
              </a:rPr>
              <a:t>Pierwsze co widzisz po wgraniu pliku.
Odpowiedź: gdzie tracimy pieniądze?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User Journey — jak wygląda dzień pracy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CBD5E1"/>
                </a:solidFill>
                <a:latin typeface="Segoe UI"/>
              </a:rPr>
              <a:t>📅 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Oś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czasu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—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każdy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krok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pracownika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od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początku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do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końca</a:t>
            </a:r>
            <a:endParaRPr sz="1800" b="0" dirty="0">
              <a:solidFill>
                <a:srgbClr val="CBD5E1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2064" y="1716260"/>
            <a:ext cx="7443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 smtClean="0">
                <a:solidFill>
                  <a:srgbClr val="CBD5E1"/>
                </a:solidFill>
                <a:latin typeface="Segoe UI"/>
              </a:rPr>
              <a:t> </a:t>
            </a:r>
            <a:r>
              <a:rPr lang="pl-PL" sz="1800" b="0" dirty="0" smtClean="0">
                <a:solidFill>
                  <a:srgbClr val="CBD5E1"/>
                </a:solidFill>
                <a:latin typeface="Segoe UI"/>
              </a:rPr>
              <a:t> </a:t>
            </a:r>
            <a:r>
              <a:rPr lang="pl-PL" dirty="0" smtClean="0">
                <a:solidFill>
                  <a:srgbClr val="CBD5E1"/>
                </a:solidFill>
                <a:latin typeface="Segoe UI"/>
              </a:rPr>
              <a:t>🕐 </a:t>
            </a:r>
            <a:r>
              <a:rPr lang="pl-PL" sz="1800" b="0" dirty="0" smtClean="0">
                <a:solidFill>
                  <a:srgbClr val="CBD5E1"/>
                </a:solidFill>
                <a:latin typeface="Segoe UI"/>
              </a:rPr>
              <a:t>	</a:t>
            </a:r>
            <a:r>
              <a:rPr sz="1800" b="0" dirty="0" err="1" smtClean="0">
                <a:solidFill>
                  <a:srgbClr val="CBD5E1"/>
                </a:solidFill>
                <a:latin typeface="Segoe UI"/>
              </a:rPr>
              <a:t>Widać</a:t>
            </a:r>
            <a:r>
              <a:rPr sz="1800" b="0" dirty="0" smtClean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dokładnie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ile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czasu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zajął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każdy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krok</a:t>
            </a:r>
            <a:endParaRPr sz="1800" b="0" dirty="0">
              <a:solidFill>
                <a:srgbClr val="CBD5E1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24259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CBD5E1"/>
                </a:solidFill>
                <a:latin typeface="Segoe UI"/>
              </a:rPr>
              <a:t>👥 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Można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porównać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ścieżki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różnych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pracowników</a:t>
            </a:r>
            <a:endParaRPr sz="1800" b="0" dirty="0">
              <a:solidFill>
                <a:srgbClr val="CBD5E1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82848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CBD5E1"/>
                </a:solidFill>
                <a:latin typeface="Segoe UI"/>
              </a:rPr>
              <a:t>🔄 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Pętle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i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powroty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do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poprzednich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kroków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są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wyraźnie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widoczne</a:t>
            </a:r>
            <a:endParaRPr sz="1800" b="0" dirty="0">
              <a:solidFill>
                <a:srgbClr val="CBD5E1"/>
              </a:solidFill>
              <a:latin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21040" y="2011680"/>
            <a:ext cx="3291840" cy="594360"/>
          </a:xfrm>
          <a:prstGeom prst="rect">
            <a:avLst/>
          </a:prstGeom>
          <a:solidFill>
            <a:srgbClr val="181827"/>
          </a:solidFill>
          <a:ln w="190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71717A"/>
                </a:solidFill>
                <a:latin typeface="Segoe UI"/>
              </a:rPr>
              <a:t>  Sprawdź maila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2834640"/>
            <a:ext cx="3291840" cy="594360"/>
          </a:xfrm>
          <a:prstGeom prst="rect">
            <a:avLst/>
          </a:prstGeom>
          <a:solidFill>
            <a:srgbClr val="181827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60A5FA"/>
                </a:solidFill>
                <a:latin typeface="Segoe UI"/>
              </a:rPr>
              <a:t>  Skopiuj dane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3657600"/>
            <a:ext cx="3291840" cy="594360"/>
          </a:xfrm>
          <a:prstGeom prst="rect">
            <a:avLst/>
          </a:prstGeom>
          <a:solidFill>
            <a:srgbClr val="181827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60A5FA"/>
                </a:solidFill>
                <a:latin typeface="Segoe UI"/>
              </a:rPr>
              <a:t>  Wklej do Excel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4480560"/>
            <a:ext cx="3291840" cy="594360"/>
          </a:xfrm>
          <a:prstGeom prst="rect">
            <a:avLst/>
          </a:prstGeom>
          <a:solidFill>
            <a:srgbClr val="1818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22C55E"/>
                </a:solidFill>
                <a:latin typeface="Segoe UI"/>
              </a:rPr>
              <a:t>  Wyślij raport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5730" y="1426651"/>
            <a:ext cx="3752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71717A"/>
                </a:solidFill>
                <a:latin typeface="Segoe UI"/>
              </a:rPr>
              <a:t>Przykładowa</a:t>
            </a:r>
            <a:r>
              <a:rPr b="0" dirty="0">
                <a:solidFill>
                  <a:srgbClr val="71717A"/>
                </a:solidFill>
                <a:latin typeface="Segoe UI"/>
              </a:rPr>
              <a:t> </a:t>
            </a:r>
            <a:r>
              <a:rPr b="0" dirty="0" err="1">
                <a:solidFill>
                  <a:srgbClr val="71717A"/>
                </a:solidFill>
                <a:latin typeface="Segoe UI"/>
              </a:rPr>
              <a:t>ścieżka</a:t>
            </a:r>
            <a:r>
              <a:rPr b="0" dirty="0">
                <a:solidFill>
                  <a:srgbClr val="71717A"/>
                </a:solidFill>
                <a:latin typeface="Segoe UI"/>
              </a:rPr>
              <a:t> </a:t>
            </a:r>
            <a:r>
              <a:rPr b="0" dirty="0" err="1">
                <a:solidFill>
                  <a:srgbClr val="71717A"/>
                </a:solidFill>
                <a:latin typeface="Segoe UI"/>
              </a:rPr>
              <a:t>pracownika</a:t>
            </a:r>
            <a:r>
              <a:rPr b="0" dirty="0">
                <a:solidFill>
                  <a:srgbClr val="71717A"/>
                </a:solidFill>
                <a:latin typeface="Segoe UI"/>
              </a:rPr>
              <a:t> →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Overview — pełna lista aktywności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Segoe UI"/>
              </a:rPr>
              <a:t>📋  Tabela wszystkich czynności wykonywanych przez pracowników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1848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Segoe UI"/>
              </a:rPr>
              <a:t>🔢  Częstotliwość — ile razy dana czynność wystąpiła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75161"/>
            <a:ext cx="71323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 dirty="0" smtClean="0">
                <a:solidFill>
                  <a:srgbClr val="CBD5E1"/>
                </a:solidFill>
                <a:latin typeface="Segoe UI"/>
              </a:rPr>
              <a:t>🕐 </a:t>
            </a:r>
            <a:r>
              <a:rPr sz="1700" b="0" dirty="0" err="1" smtClean="0">
                <a:solidFill>
                  <a:srgbClr val="CBD5E1"/>
                </a:solidFill>
                <a:latin typeface="Segoe UI"/>
              </a:rPr>
              <a:t>Średni</a:t>
            </a:r>
            <a:r>
              <a:rPr sz="1700" b="0" dirty="0" smtClean="0">
                <a:solidFill>
                  <a:srgbClr val="CBD5E1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CBD5E1"/>
                </a:solidFill>
                <a:latin typeface="Segoe UI"/>
              </a:rPr>
              <a:t>czas</a:t>
            </a:r>
            <a:r>
              <a:rPr sz="1700" b="0" dirty="0">
                <a:solidFill>
                  <a:srgbClr val="CBD5E1"/>
                </a:solidFill>
                <a:latin typeface="Segoe UI"/>
              </a:rPr>
              <a:t> — </a:t>
            </a:r>
            <a:r>
              <a:rPr sz="1700" b="0" dirty="0" err="1">
                <a:solidFill>
                  <a:srgbClr val="CBD5E1"/>
                </a:solidFill>
                <a:latin typeface="Segoe UI"/>
              </a:rPr>
              <a:t>ile</a:t>
            </a:r>
            <a:r>
              <a:rPr sz="17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CBD5E1"/>
                </a:solidFill>
                <a:latin typeface="Segoe UI"/>
              </a:rPr>
              <a:t>zajmuje</a:t>
            </a:r>
            <a:r>
              <a:rPr sz="17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CBD5E1"/>
                </a:solidFill>
                <a:latin typeface="Segoe UI"/>
              </a:rPr>
              <a:t>jedno</a:t>
            </a:r>
            <a:r>
              <a:rPr sz="17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CBD5E1"/>
                </a:solidFill>
                <a:latin typeface="Segoe UI"/>
              </a:rPr>
              <a:t>wykonanie</a:t>
            </a:r>
            <a:endParaRPr sz="1700" b="0" dirty="0">
              <a:solidFill>
                <a:srgbClr val="CBD5E1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569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Segoe UI"/>
              </a:rPr>
              <a:t>📋→📋  Kopiowanie danych — ile razy dane były kopiowane ręcznie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449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CBD5E1"/>
                </a:solidFill>
                <a:latin typeface="Segoe UI"/>
              </a:rPr>
              <a:t>🔀  </a:t>
            </a:r>
            <a:r>
              <a:rPr sz="1700" b="0" dirty="0" err="1">
                <a:solidFill>
                  <a:srgbClr val="CBD5E1"/>
                </a:solidFill>
                <a:latin typeface="Segoe UI"/>
              </a:rPr>
              <a:t>Przełączenia</a:t>
            </a:r>
            <a:r>
              <a:rPr sz="17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CBD5E1"/>
                </a:solidFill>
                <a:latin typeface="Segoe UI"/>
              </a:rPr>
              <a:t>aplikacji</a:t>
            </a:r>
            <a:r>
              <a:rPr sz="1700" b="0" dirty="0">
                <a:solidFill>
                  <a:srgbClr val="CBD5E1"/>
                </a:solidFill>
                <a:latin typeface="Segoe UI"/>
              </a:rPr>
              <a:t> — </a:t>
            </a:r>
            <a:r>
              <a:rPr sz="1700" b="0" dirty="0" err="1">
                <a:solidFill>
                  <a:srgbClr val="CBD5E1"/>
                </a:solidFill>
                <a:latin typeface="Segoe UI"/>
              </a:rPr>
              <a:t>ile</a:t>
            </a:r>
            <a:r>
              <a:rPr sz="17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CBD5E1"/>
                </a:solidFill>
                <a:latin typeface="Segoe UI"/>
              </a:rPr>
              <a:t>razy</a:t>
            </a:r>
            <a:r>
              <a:rPr sz="17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CBD5E1"/>
                </a:solidFill>
                <a:latin typeface="Segoe UI"/>
              </a:rPr>
              <a:t>pracownik</a:t>
            </a:r>
            <a:r>
              <a:rPr sz="17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CBD5E1"/>
                </a:solidFill>
                <a:latin typeface="Segoe UI"/>
              </a:rPr>
              <a:t>zmienił</a:t>
            </a:r>
            <a:r>
              <a:rPr sz="1700" b="0" dirty="0">
                <a:solidFill>
                  <a:srgbClr val="CBD5E1"/>
                </a:solidFill>
                <a:latin typeface="Segoe UI"/>
              </a:rPr>
              <a:t>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Segoe UI"/>
              </a:rPr>
              <a:t>🔍  Filtry według pracownika i aplikacji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7710" y="4091940"/>
            <a:ext cx="292608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1717A"/>
                </a:solidFill>
                <a:latin typeface="Segoe UI"/>
              </a:rPr>
              <a:t>Czynność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3790" y="4091940"/>
            <a:ext cx="137160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1717A"/>
                </a:solidFill>
                <a:latin typeface="Segoe UI"/>
              </a:rPr>
              <a:t>Częstość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5390" y="4091940"/>
            <a:ext cx="137160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1717A"/>
                </a:solidFill>
                <a:latin typeface="Segoe UI"/>
              </a:rPr>
              <a:t>Czas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96990" y="4091940"/>
            <a:ext cx="16459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1717A"/>
                </a:solidFill>
                <a:latin typeface="Segoe UI"/>
              </a:rPr>
              <a:t>Kopiowanie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7710" y="4549140"/>
            <a:ext cx="2926080" cy="411480"/>
          </a:xfrm>
          <a:prstGeom prst="rect">
            <a:avLst/>
          </a:prstGeom>
          <a:solidFill>
            <a:srgbClr val="181827"/>
          </a:solidFill>
          <a:ln w="6350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87171"/>
                </a:solidFill>
                <a:latin typeface="Segoe UI"/>
              </a:rPr>
              <a:t>Use Teams App.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3790" y="4549140"/>
            <a:ext cx="1371600" cy="411480"/>
          </a:xfrm>
          <a:prstGeom prst="rect">
            <a:avLst/>
          </a:prstGeom>
          <a:solidFill>
            <a:srgbClr val="181827"/>
          </a:solidFill>
          <a:ln w="6350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CBD5E1"/>
                </a:solidFill>
                <a:latin typeface="Segoe UI"/>
              </a:rPr>
              <a:t>417 673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5390" y="4549140"/>
            <a:ext cx="1371600" cy="411480"/>
          </a:xfrm>
          <a:prstGeom prst="rect">
            <a:avLst/>
          </a:prstGeom>
          <a:solidFill>
            <a:srgbClr val="181827"/>
          </a:solidFill>
          <a:ln w="6350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CBD5E1"/>
                </a:solidFill>
                <a:latin typeface="Segoe UI"/>
              </a:rPr>
              <a:t>8s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96990" y="4549140"/>
            <a:ext cx="1645920" cy="411480"/>
          </a:xfrm>
          <a:prstGeom prst="rect">
            <a:avLst/>
          </a:prstGeom>
          <a:solidFill>
            <a:srgbClr val="181827"/>
          </a:solidFill>
          <a:ln w="6350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CBD5E1"/>
                </a:solidFill>
                <a:latin typeface="Segoe UI"/>
              </a:rPr>
              <a:t>144 127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7710" y="5006340"/>
            <a:ext cx="2926080" cy="411480"/>
          </a:xfrm>
          <a:prstGeom prst="rect">
            <a:avLst/>
          </a:prstGeom>
          <a:solidFill>
            <a:srgbClr val="181827"/>
          </a:solidFill>
          <a:ln w="6350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60A5FA"/>
                </a:solidFill>
                <a:latin typeface="Segoe UI"/>
              </a:rPr>
              <a:t>Praca w Excelu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3790" y="5006340"/>
            <a:ext cx="1371600" cy="411480"/>
          </a:xfrm>
          <a:prstGeom prst="rect">
            <a:avLst/>
          </a:prstGeom>
          <a:solidFill>
            <a:srgbClr val="181827"/>
          </a:solidFill>
          <a:ln w="6350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CBD5E1"/>
                </a:solidFill>
                <a:latin typeface="Segoe UI"/>
              </a:rPr>
              <a:t>81 649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5390" y="5006340"/>
            <a:ext cx="1371600" cy="411480"/>
          </a:xfrm>
          <a:prstGeom prst="rect">
            <a:avLst/>
          </a:prstGeom>
          <a:solidFill>
            <a:srgbClr val="181827"/>
          </a:solidFill>
          <a:ln w="6350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CBD5E1"/>
                </a:solidFill>
                <a:latin typeface="Segoe UI"/>
              </a:rPr>
              <a:t>4s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96990" y="5006340"/>
            <a:ext cx="1645920" cy="411480"/>
          </a:xfrm>
          <a:prstGeom prst="rect">
            <a:avLst/>
          </a:prstGeom>
          <a:solidFill>
            <a:srgbClr val="181827"/>
          </a:solidFill>
          <a:ln w="6350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CBD5E1"/>
                </a:solidFill>
                <a:latin typeface="Segoe UI"/>
              </a:rPr>
              <a:t>279 390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7710" y="5463540"/>
            <a:ext cx="2926080" cy="411480"/>
          </a:xfrm>
          <a:prstGeom prst="rect">
            <a:avLst/>
          </a:prstGeom>
          <a:solidFill>
            <a:srgbClr val="181827"/>
          </a:solidFill>
          <a:ln w="6350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CBD5E1"/>
                </a:solidFill>
                <a:latin typeface="Segoe UI"/>
              </a:rPr>
              <a:t>Przeglądarka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3790" y="5463540"/>
            <a:ext cx="1371600" cy="411480"/>
          </a:xfrm>
          <a:prstGeom prst="rect">
            <a:avLst/>
          </a:prstGeom>
          <a:solidFill>
            <a:srgbClr val="181827"/>
          </a:solidFill>
          <a:ln w="6350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CBD5E1"/>
                </a:solidFill>
                <a:latin typeface="Segoe UI"/>
              </a:rPr>
              <a:t>129 292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5390" y="5463540"/>
            <a:ext cx="1371600" cy="411480"/>
          </a:xfrm>
          <a:prstGeom prst="rect">
            <a:avLst/>
          </a:prstGeom>
          <a:solidFill>
            <a:srgbClr val="181827"/>
          </a:solidFill>
          <a:ln w="6350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CBD5E1"/>
                </a:solidFill>
                <a:latin typeface="Segoe UI"/>
              </a:rPr>
              <a:t>7s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96990" y="5463540"/>
            <a:ext cx="1645920" cy="411480"/>
          </a:xfrm>
          <a:prstGeom prst="rect">
            <a:avLst/>
          </a:prstGeom>
          <a:solidFill>
            <a:srgbClr val="181827"/>
          </a:solidFill>
          <a:ln w="6350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CBD5E1"/>
                </a:solidFill>
                <a:latin typeface="Segoe UI"/>
              </a:rPr>
              <a:t>61 512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7710" y="5920740"/>
            <a:ext cx="2926080" cy="411480"/>
          </a:xfrm>
          <a:prstGeom prst="rect">
            <a:avLst/>
          </a:prstGeom>
          <a:solidFill>
            <a:srgbClr val="181827"/>
          </a:solidFill>
          <a:ln w="6350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60A5FA"/>
                </a:solidFill>
                <a:latin typeface="Segoe UI"/>
              </a:rPr>
              <a:t>Prezentacja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3790" y="5920740"/>
            <a:ext cx="1371600" cy="411480"/>
          </a:xfrm>
          <a:prstGeom prst="rect">
            <a:avLst/>
          </a:prstGeom>
          <a:solidFill>
            <a:srgbClr val="181827"/>
          </a:solidFill>
          <a:ln w="6350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CBD5E1"/>
                </a:solidFill>
                <a:latin typeface="Segoe UI"/>
              </a:rPr>
              <a:t>70 438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5390" y="5920740"/>
            <a:ext cx="1371600" cy="411480"/>
          </a:xfrm>
          <a:prstGeom prst="rect">
            <a:avLst/>
          </a:prstGeom>
          <a:solidFill>
            <a:srgbClr val="181827"/>
          </a:solidFill>
          <a:ln w="6350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CBD5E1"/>
                </a:solidFill>
                <a:latin typeface="Segoe UI"/>
              </a:rPr>
              <a:t>3s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96990" y="5920740"/>
            <a:ext cx="1645920" cy="411480"/>
          </a:xfrm>
          <a:prstGeom prst="rect">
            <a:avLst/>
          </a:prstGeom>
          <a:solidFill>
            <a:srgbClr val="181827"/>
          </a:solidFill>
          <a:ln w="6350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CBD5E1"/>
                </a:solidFill>
                <a:latin typeface="Segoe UI"/>
              </a:rPr>
              <a:t>452 628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Business Impact — co warto zautomatyzować?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📊  Lista procesów posortowana od największego wpływu na biznes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1848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💶  Koszt miesięczny każdego problemu — w euro lub godzinach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93976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🤖  Sugestia: RPA, integracja systemów, eliminacja kroku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9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🔴  Priorytet: czerwony = pilne, pomarańczowy = ważne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449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✅  Kliknij rekomendację żeby zobaczyć szczegółowy plan działania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280160"/>
            <a:ext cx="3566160" cy="1005840"/>
          </a:xfrm>
          <a:prstGeom prst="rect">
            <a:avLst/>
          </a:prstGeom>
          <a:solidFill>
            <a:srgbClr val="181827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Kopiowanie: Excel →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830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Segoe UI"/>
              </a:rPr>
              <a:t>€ 4 200 / mies.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560320"/>
            <a:ext cx="3566160" cy="1005840"/>
          </a:xfrm>
          <a:prstGeom prst="rect">
            <a:avLst/>
          </a:prstGeom>
          <a:solidFill>
            <a:srgbClr val="1818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60603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Ręczne raporty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6323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BBF24"/>
                </a:solidFill>
                <a:latin typeface="Segoe UI"/>
              </a:rPr>
              <a:t>€ 2 800 / mies.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840479"/>
            <a:ext cx="3566160" cy="1005840"/>
          </a:xfrm>
          <a:prstGeom prst="rect">
            <a:avLst/>
          </a:prstGeom>
          <a:solidFill>
            <a:srgbClr val="181827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388619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Weryfikacja dokumentów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34339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0A5FA"/>
                </a:solidFill>
                <a:latin typeface="Segoe UI"/>
              </a:rPr>
              <a:t>€ 1 600 / mies.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66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Segoe UI"/>
              </a:rPr>
              <a:t>To jest lista zakupów dla działu automatyzacji.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Bottlenecks — gdzie proces się zatyka?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⏸️   Bottleneck = miejsce gdzie pracownicy czekają najdłużej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1848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🔴  CRITICAL — opóźnienie powyżej 2 godzin, dotyka wielu osób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93976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🟠  HIGH — opóźnienie 30–120 minut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9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🟡  MEDIUM / LOW — mniejsze opóźnienia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449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📈  Tabela: skąd → dokąd, średni czas, ile przypadków, severity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188720"/>
            <a:ext cx="3657600" cy="2286000"/>
          </a:xfrm>
          <a:prstGeom prst="rect">
            <a:avLst/>
          </a:prstGeom>
          <a:solidFill>
            <a:srgbClr val="181827"/>
          </a:solidFill>
          <a:ln w="9525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  <a:latin typeface="Segoe UI"/>
              </a:rPr>
              <a:t>🔴  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Zatwierdzenie  →  Wysyłka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  <a:latin typeface="Segoe UI"/>
              </a:rPr>
              <a:t>Średnie czekanie: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194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7171"/>
                </a:solidFill>
                <a:latin typeface="Segoe UI"/>
              </a:rPr>
              <a:t>4h 12min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51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  <a:latin typeface="Segoe UI"/>
              </a:rPr>
              <a:t>Dotyczy: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606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BD5E1"/>
                </a:solidFill>
                <a:latin typeface="Segoe UI"/>
              </a:rPr>
              <a:t>238 przypadków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Segoe UI"/>
              </a:rPr>
              <a:t>Jeśli między krokami mija 4 godziny —
aplikacja to wykrywa automatycznie.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0"/>
            <a:ext cx="12188952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Process Paths — ile sposobów na to samo zadanie?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🔀  Każdy wariant to inny ciąg kroków przez który przechodzi pracownik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8204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CBD5E1"/>
                </a:solidFill>
                <a:latin typeface="Segoe UI"/>
              </a:rPr>
              <a:t>📊 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Widać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ilu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pracowników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szło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każdą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ścieżką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(w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procentach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003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CBD5E1"/>
                </a:solidFill>
                <a:latin typeface="Segoe UI"/>
              </a:rPr>
              <a:t>✅ 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Idealnie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: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jeden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główny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wariant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,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reszta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to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rzadkie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wyjątki</a:t>
            </a:r>
            <a:endParaRPr sz="1800" b="0" dirty="0">
              <a:solidFill>
                <a:srgbClr val="CBD5E1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9953" y="29718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CBD5E1"/>
                </a:solidFill>
                <a:latin typeface="Segoe UI"/>
              </a:rPr>
              <a:t>🎯 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Cel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: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ujednolicić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procesy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przed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wdrożeniem</a:t>
            </a:r>
            <a:r>
              <a:rPr sz="18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CBD5E1"/>
                </a:solidFill>
                <a:latin typeface="Segoe UI"/>
              </a:rPr>
              <a:t>automatyzacji</a:t>
            </a:r>
            <a:endParaRPr sz="1800" b="0" dirty="0">
              <a:solidFill>
                <a:srgbClr val="CBD5E1"/>
              </a:solidFill>
              <a:latin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21040" y="1554480"/>
            <a:ext cx="1494129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C55E"/>
                </a:solidFill>
                <a:latin typeface="Segoe UI"/>
              </a:rPr>
              <a:t>43%  Wariant A (główny)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606039"/>
            <a:ext cx="764438" cy="4114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A5FA"/>
                </a:solidFill>
                <a:latin typeface="Segoe UI"/>
              </a:rPr>
              <a:t>22%  Wariant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3657599"/>
            <a:ext cx="521207" cy="4114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33832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BBF24"/>
                </a:solidFill>
                <a:latin typeface="Segoe UI"/>
              </a:rPr>
              <a:t>15%  Wariant 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4709159"/>
            <a:ext cx="694944" cy="411480"/>
          </a:xfrm>
          <a:prstGeom prst="rect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4434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  <a:latin typeface="Segoe UI"/>
              </a:rPr>
              <a:t>20%  Pozostałe (47 wariantów)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AI Analysis — asystent który rozumie Twój proces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2286000"/>
          </a:xfrm>
          <a:prstGeom prst="rect">
            <a:avLst/>
          </a:prstGeom>
          <a:solidFill>
            <a:srgbClr val="181827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0A5FA"/>
                </a:solidFill>
                <a:latin typeface="Segoe UI"/>
              </a:rPr>
              <a:t>📝  Process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5212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CBD5E1"/>
                </a:solidFill>
                <a:latin typeface="Segoe UI"/>
              </a:rPr>
              <a:t>AI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opisuje</a:t>
            </a:r>
            <a:r>
              <a:rPr b="0" dirty="0">
                <a:solidFill>
                  <a:srgbClr val="CBD5E1"/>
                </a:solidFill>
                <a:latin typeface="Segoe UI"/>
              </a:rPr>
              <a:t>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słowami</a:t>
            </a:r>
            <a:r>
              <a:rPr b="0" dirty="0">
                <a:solidFill>
                  <a:srgbClr val="CBD5E1"/>
                </a:solidFill>
                <a:latin typeface="Segoe UI"/>
              </a:rPr>
              <a:t> co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odkryła</a:t>
            </a:r>
            <a:r>
              <a:rPr b="0" dirty="0">
                <a:solidFill>
                  <a:srgbClr val="CBD5E1"/>
                </a:solidFill>
                <a:latin typeface="Segoe UI"/>
              </a:rPr>
              <a:t> w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danych</a:t>
            </a:r>
            <a:r>
              <a:rPr b="0" dirty="0">
                <a:solidFill>
                  <a:srgbClr val="CBD5E1"/>
                </a:solidFill>
                <a:latin typeface="Segoe UI"/>
              </a:rPr>
              <a:t>: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główny</a:t>
            </a:r>
            <a:r>
              <a:rPr b="0" dirty="0">
                <a:solidFill>
                  <a:srgbClr val="CBD5E1"/>
                </a:solidFill>
                <a:latin typeface="Segoe UI"/>
              </a:rPr>
              <a:t>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przepływ</a:t>
            </a:r>
            <a:r>
              <a:rPr b="0" dirty="0">
                <a:solidFill>
                  <a:srgbClr val="CBD5E1"/>
                </a:solidFill>
                <a:latin typeface="Segoe UI"/>
              </a:rPr>
              <a:t>,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anomalie</a:t>
            </a:r>
            <a:r>
              <a:rPr b="0" dirty="0">
                <a:solidFill>
                  <a:srgbClr val="CBD5E1"/>
                </a:solidFill>
                <a:latin typeface="Segoe UI"/>
              </a:rPr>
              <a:t>,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kluczowe</a:t>
            </a:r>
            <a:r>
              <a:rPr b="0" dirty="0">
                <a:solidFill>
                  <a:srgbClr val="CBD5E1"/>
                </a:solidFill>
                <a:latin typeface="Segoe UI"/>
              </a:rPr>
              <a:t>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wzorce</a:t>
            </a:r>
            <a:endParaRPr b="0" dirty="0">
              <a:solidFill>
                <a:srgbClr val="CBD5E1"/>
              </a:solidFill>
              <a:latin typeface="Segoe U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2286000"/>
          </a:xfrm>
          <a:prstGeom prst="rect">
            <a:avLst/>
          </a:prstGeom>
          <a:solidFill>
            <a:srgbClr val="1818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2801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C55E"/>
                </a:solidFill>
                <a:latin typeface="Segoe UI"/>
              </a:rPr>
              <a:t>💡 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5212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CBD5E1"/>
                </a:solidFill>
                <a:latin typeface="Segoe UI"/>
              </a:rPr>
              <a:t>Konkretne</a:t>
            </a:r>
            <a:r>
              <a:rPr b="0" dirty="0">
                <a:solidFill>
                  <a:srgbClr val="CBD5E1"/>
                </a:solidFill>
                <a:latin typeface="Segoe UI"/>
              </a:rPr>
              <a:t>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porady</a:t>
            </a:r>
            <a:r>
              <a:rPr b="0" dirty="0">
                <a:solidFill>
                  <a:srgbClr val="CBD5E1"/>
                </a:solidFill>
                <a:latin typeface="Segoe UI"/>
              </a:rPr>
              <a:t>: co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zautomatyzować</a:t>
            </a:r>
            <a:r>
              <a:rPr b="0" dirty="0">
                <a:solidFill>
                  <a:srgbClr val="CBD5E1"/>
                </a:solidFill>
                <a:latin typeface="Segoe UI"/>
              </a:rPr>
              <a:t>, co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uprościć</a:t>
            </a:r>
            <a:r>
              <a:rPr b="0" dirty="0">
                <a:solidFill>
                  <a:srgbClr val="CBD5E1"/>
                </a:solidFill>
                <a:latin typeface="Segoe UI"/>
              </a:rPr>
              <a:t>, co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wyeliminować</a:t>
            </a:r>
            <a:r>
              <a:rPr b="0" dirty="0">
                <a:solidFill>
                  <a:srgbClr val="CBD5E1"/>
                </a:solidFill>
                <a:latin typeface="Segoe UI"/>
              </a:rPr>
              <a:t> z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procesu</a:t>
            </a:r>
            <a:endParaRPr b="0" dirty="0">
              <a:solidFill>
                <a:srgbClr val="CBD5E1"/>
              </a:solidFill>
              <a:latin typeface="Segoe U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5486400" cy="2286000"/>
          </a:xfrm>
          <a:prstGeom prst="rect">
            <a:avLst/>
          </a:prstGeom>
          <a:solidFill>
            <a:srgbClr val="1818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8862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BBF24"/>
                </a:solidFill>
                <a:latin typeface="Segoe UI"/>
              </a:rPr>
              <a:t>📊  BPMN Diagram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89120"/>
            <a:ext cx="5212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CBD5E1"/>
                </a:solidFill>
                <a:latin typeface="Segoe UI"/>
              </a:rPr>
              <a:t>Graficzny</a:t>
            </a:r>
            <a:r>
              <a:rPr b="0" dirty="0">
                <a:solidFill>
                  <a:srgbClr val="CBD5E1"/>
                </a:solidFill>
                <a:latin typeface="Segoe UI"/>
              </a:rPr>
              <a:t>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schemat</a:t>
            </a:r>
            <a:r>
              <a:rPr b="0" dirty="0">
                <a:solidFill>
                  <a:srgbClr val="CBD5E1"/>
                </a:solidFill>
                <a:latin typeface="Segoe UI"/>
              </a:rPr>
              <a:t>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procesu</a:t>
            </a:r>
            <a:r>
              <a:rPr b="0" dirty="0">
                <a:solidFill>
                  <a:srgbClr val="CBD5E1"/>
                </a:solidFill>
                <a:latin typeface="Segoe UI"/>
              </a:rPr>
              <a:t>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wygenerowany</a:t>
            </a:r>
            <a:r>
              <a:rPr b="0" dirty="0">
                <a:solidFill>
                  <a:srgbClr val="CBD5E1"/>
                </a:solidFill>
                <a:latin typeface="Segoe UI"/>
              </a:rPr>
              <a:t>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automatycznie</a:t>
            </a:r>
            <a:r>
              <a:rPr b="0" dirty="0">
                <a:solidFill>
                  <a:srgbClr val="CBD5E1"/>
                </a:solidFill>
                <a:latin typeface="Segoe UI"/>
              </a:rPr>
              <a:t> —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jak</a:t>
            </a:r>
            <a:r>
              <a:rPr b="0" dirty="0">
                <a:solidFill>
                  <a:srgbClr val="CBD5E1"/>
                </a:solidFill>
                <a:latin typeface="Segoe UI"/>
              </a:rPr>
              <a:t>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schemat</a:t>
            </a:r>
            <a:r>
              <a:rPr b="0" dirty="0">
                <a:solidFill>
                  <a:srgbClr val="CBD5E1"/>
                </a:solidFill>
                <a:latin typeface="Segoe UI"/>
              </a:rPr>
              <a:t>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blokowy</a:t>
            </a:r>
            <a:endParaRPr b="0" dirty="0">
              <a:solidFill>
                <a:srgbClr val="CBD5E1"/>
              </a:solidFill>
              <a:latin typeface="Segoe U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309360" y="3794760"/>
            <a:ext cx="5486400" cy="2286000"/>
          </a:xfrm>
          <a:prstGeom prst="rect">
            <a:avLst/>
          </a:prstGeom>
          <a:solidFill>
            <a:srgbClr val="181827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38862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Segoe UI"/>
              </a:rPr>
              <a:t>💬  Zapytaj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389120"/>
            <a:ext cx="5212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CBD5E1"/>
                </a:solidFill>
                <a:latin typeface="Segoe UI"/>
              </a:rPr>
              <a:t>Wpisz</a:t>
            </a:r>
            <a:r>
              <a:rPr b="0" dirty="0">
                <a:solidFill>
                  <a:srgbClr val="CBD5E1"/>
                </a:solidFill>
                <a:latin typeface="Segoe UI"/>
              </a:rPr>
              <a:t>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pytanie</a:t>
            </a:r>
            <a:r>
              <a:rPr b="0" dirty="0">
                <a:solidFill>
                  <a:srgbClr val="CBD5E1"/>
                </a:solidFill>
                <a:latin typeface="Segoe UI"/>
              </a:rPr>
              <a:t>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po</a:t>
            </a:r>
            <a:r>
              <a:rPr b="0" dirty="0">
                <a:solidFill>
                  <a:srgbClr val="CBD5E1"/>
                </a:solidFill>
                <a:latin typeface="Segoe UI"/>
              </a:rPr>
              <a:t>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polsku</a:t>
            </a:r>
            <a:r>
              <a:rPr b="0" dirty="0">
                <a:solidFill>
                  <a:srgbClr val="CBD5E1"/>
                </a:solidFill>
                <a:latin typeface="Segoe UI"/>
              </a:rPr>
              <a:t>:
Co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zajmuje</a:t>
            </a:r>
            <a:r>
              <a:rPr b="0" dirty="0">
                <a:solidFill>
                  <a:srgbClr val="CBD5E1"/>
                </a:solidFill>
                <a:latin typeface="Segoe UI"/>
              </a:rPr>
              <a:t>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najwiecej</a:t>
            </a:r>
            <a:r>
              <a:rPr b="0" dirty="0">
                <a:solidFill>
                  <a:srgbClr val="CBD5E1"/>
                </a:solidFill>
                <a:latin typeface="Segoe UI"/>
              </a:rPr>
              <a:t>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czasu</a:t>
            </a:r>
            <a:r>
              <a:rPr b="0" dirty="0">
                <a:solidFill>
                  <a:srgbClr val="CBD5E1"/>
                </a:solidFill>
                <a:latin typeface="Segoe UI"/>
              </a:rPr>
              <a:t>?
AI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odpowie</a:t>
            </a:r>
            <a:r>
              <a:rPr b="0" dirty="0">
                <a:solidFill>
                  <a:srgbClr val="CBD5E1"/>
                </a:solidFill>
                <a:latin typeface="Segoe UI"/>
              </a:rPr>
              <a:t> w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kilka</a:t>
            </a:r>
            <a:r>
              <a:rPr b="0" dirty="0">
                <a:solidFill>
                  <a:srgbClr val="CBD5E1"/>
                </a:solidFill>
                <a:latin typeface="Segoe UI"/>
              </a:rPr>
              <a:t> </a:t>
            </a:r>
            <a:r>
              <a:rPr b="0" dirty="0" err="1">
                <a:solidFill>
                  <a:srgbClr val="CBD5E1"/>
                </a:solidFill>
                <a:latin typeface="Segoe UI"/>
              </a:rPr>
              <a:t>sekund</a:t>
            </a:r>
            <a:r>
              <a:rPr b="0" dirty="0">
                <a:solidFill>
                  <a:srgbClr val="CBD5E1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Live Monitor — podgląd w czasie rzeczywistym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📡  Pokazuje aktywności na żywo podczas nagrywania procesu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1848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👤  Widać kto co robi w tej chwili i od jak dawna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93976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⏱️   Czas trwania aktywnych kroków aktualizuje się na bieżąco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9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🔍  Przydatny podczas trwających sesji nagraniowych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449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📊  Uzupełnienie historycznej analizy — dane w czasie rzeczywistym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188720"/>
            <a:ext cx="3657600" cy="4572000"/>
          </a:xfrm>
          <a:prstGeom prst="rect">
            <a:avLst/>
          </a:prstGeom>
          <a:solidFill>
            <a:srgbClr val="181827"/>
          </a:solidFill>
          <a:ln w="9525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Segoe UI"/>
              </a:rPr>
              <a:t>● LIVE</a:t>
            </a:r>
          </a:p>
        </p:txBody>
      </p:sp>
      <p:sp>
        <p:nvSpPr>
          <p:cNvPr id="12" name="Oval 11"/>
          <p:cNvSpPr/>
          <p:nvPr/>
        </p:nvSpPr>
        <p:spPr>
          <a:xfrm>
            <a:off x="8366760" y="184708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user_01: Use Teams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17373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Segoe UI"/>
              </a:rPr>
              <a:t>2m 14s</a:t>
            </a:r>
          </a:p>
        </p:txBody>
      </p:sp>
      <p:sp>
        <p:nvSpPr>
          <p:cNvPr id="15" name="Oval 14"/>
          <p:cNvSpPr/>
          <p:nvPr/>
        </p:nvSpPr>
        <p:spPr>
          <a:xfrm>
            <a:off x="8366760" y="257860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user_07: Working on Excel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24688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Segoe UI"/>
              </a:rPr>
              <a:t>45s</a:t>
            </a:r>
          </a:p>
        </p:txBody>
      </p:sp>
      <p:sp>
        <p:nvSpPr>
          <p:cNvPr id="18" name="Oval 17"/>
          <p:cNvSpPr/>
          <p:nvPr/>
        </p:nvSpPr>
        <p:spPr>
          <a:xfrm>
            <a:off x="8366760" y="331012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4108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user_12: Browsing Chrome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32004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Segoe UI"/>
              </a:rPr>
              <a:t>1m 02s</a:t>
            </a:r>
          </a:p>
        </p:txBody>
      </p:sp>
      <p:sp>
        <p:nvSpPr>
          <p:cNvPr id="21" name="Oval 20"/>
          <p:cNvSpPr/>
          <p:nvPr/>
        </p:nvSpPr>
        <p:spPr>
          <a:xfrm>
            <a:off x="8366760" y="404164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4108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user_03: Remote Connection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3931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Segoe UI"/>
              </a:rPr>
              <a:t>8m 31s</a:t>
            </a:r>
          </a:p>
        </p:txBody>
      </p:sp>
      <p:sp>
        <p:nvSpPr>
          <p:cNvPr id="24" name="Oval 23"/>
          <p:cNvSpPr/>
          <p:nvPr/>
        </p:nvSpPr>
        <p:spPr>
          <a:xfrm>
            <a:off x="8366760" y="477316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4108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user_19: View Files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46634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Segoe UI"/>
              </a:rPr>
              <a:t>23s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Co odkryliśmy w realnych danych?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Segoe UI"/>
              </a:rPr>
              <a:t>Dane z 50 pracowników · 20 dni roboczych · KYP.ai Task Mining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011680" cy="1188720"/>
          </a:xfrm>
          <a:prstGeom prst="rect">
            <a:avLst/>
          </a:prstGeom>
          <a:solidFill>
            <a:srgbClr val="181827"/>
          </a:solidFill>
          <a:ln w="9525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60A5FA"/>
                </a:solidFill>
                <a:latin typeface="Segoe UI"/>
              </a:rPr>
              <a:t>2,2M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1717A"/>
                </a:solidFill>
                <a:latin typeface="Segoe UI"/>
              </a:rPr>
              <a:t>zdarzeń nagranych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554480"/>
            <a:ext cx="2011680" cy="1188720"/>
          </a:xfrm>
          <a:prstGeom prst="rect">
            <a:avLst/>
          </a:prstGeom>
          <a:solidFill>
            <a:srgbClr val="181827"/>
          </a:solidFill>
          <a:ln w="9525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16459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2C55E"/>
                </a:solidFill>
                <a:latin typeface="Segoe UI"/>
              </a:rP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2128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1717A"/>
                </a:solidFill>
                <a:latin typeface="Segoe UI"/>
              </a:rPr>
              <a:t>pracowników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554480"/>
            <a:ext cx="2011680" cy="1188720"/>
          </a:xfrm>
          <a:prstGeom prst="rect">
            <a:avLst/>
          </a:prstGeom>
          <a:solidFill>
            <a:srgbClr val="181827"/>
          </a:solidFill>
          <a:ln w="9525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0" y="16459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BBF24"/>
                </a:solidFill>
                <a:latin typeface="Segoe UI"/>
              </a:rPr>
              <a:t>25+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2128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1717A"/>
                </a:solidFill>
                <a:latin typeface="Segoe UI"/>
              </a:rPr>
              <a:t>aplikacji w procesie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554480"/>
            <a:ext cx="2011680" cy="1188720"/>
          </a:xfrm>
          <a:prstGeom prst="rect">
            <a:avLst/>
          </a:prstGeom>
          <a:solidFill>
            <a:srgbClr val="181827"/>
          </a:solidFill>
          <a:ln w="9525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16459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87171"/>
                </a:solidFill>
                <a:latin typeface="Segoe UI"/>
              </a:rPr>
              <a:t>4h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2128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1717A"/>
                </a:solidFill>
                <a:latin typeface="Segoe UI"/>
              </a:rPr>
              <a:t>śr. czas bottlenecku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1554480"/>
            <a:ext cx="2011680" cy="1188720"/>
          </a:xfrm>
          <a:prstGeom prst="rect">
            <a:avLst/>
          </a:prstGeom>
          <a:solidFill>
            <a:srgbClr val="181827"/>
          </a:solidFill>
          <a:ln w="9525">
            <a:solidFill>
              <a:srgbClr val="27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0" y="16459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87171"/>
                </a:solidFill>
                <a:latin typeface="Segoe UI"/>
              </a:rPr>
              <a:t>452k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2128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1717A"/>
                </a:solidFill>
                <a:latin typeface="Segoe UI"/>
              </a:rPr>
              <a:t>operacji kopiowania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Segoe UI"/>
              </a:rPr>
              <a:t>Największy odkryty problem: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611880"/>
            <a:ext cx="10881360" cy="1280160"/>
          </a:xfrm>
          <a:prstGeom prst="rect">
            <a:avLst/>
          </a:prstGeom>
          <a:solidFill>
            <a:srgbClr val="1A0A0A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7171"/>
                </a:solidFill>
                <a:latin typeface="Segoe UI"/>
              </a:rPr>
              <a:t>450 000 ręcznych operacji kopiowania danych między Excelem a systemem wewnętrznym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51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→  Robot RPA może wykonać tę czynność automatycznie w ułamku sekundy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  <a:latin typeface="Segoe UI"/>
              </a:rPr>
              <a:t>To nie są wymyślone dane — to rzeczywiste wyniki analizy datasetu hackathonowego.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Podsumowanie — co zyskujesz?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BD5E1"/>
                </a:solidFill>
                <a:latin typeface="Segoe UI"/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2C55E"/>
                </a:solidFill>
                <a:latin typeface="Segoe UI"/>
              </a:rPr>
              <a:t>Wiesz gdzie tracisz pieniądze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Segoe UI"/>
              </a:rPr>
              <a:t>konkretne liczby, nie domysły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BD5E1"/>
                </a:solidFill>
                <a:latin typeface="Segoe UI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2C55E"/>
                </a:solidFill>
                <a:latin typeface="Segoe UI"/>
              </a:rPr>
              <a:t>Wiesz co zautomatyzować najpierw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51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Segoe UI"/>
              </a:rPr>
              <a:t>posortowana lista według oszczędności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BD5E1"/>
                </a:solidFill>
                <a:latin typeface="Segoe UI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60A5FA"/>
                </a:solidFill>
                <a:latin typeface="Segoe UI"/>
              </a:rPr>
              <a:t>Możesz zadawać pytania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657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Segoe UI"/>
              </a:rPr>
              <a:t>bez czytania raportów, odpowiedź w 3 sekundy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BD5E1"/>
                </a:solidFill>
                <a:latin typeface="Segoe U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BBF24"/>
                </a:solidFill>
                <a:latin typeface="Segoe UI"/>
              </a:rPr>
              <a:t>Widzisz jak wygląda proces naprawdę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663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Segoe UI"/>
              </a:rPr>
              <a:t>nie jak myślisz że wygląda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12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BD5E1"/>
                </a:solidFill>
                <a:latin typeface="Segoe UI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2C55E"/>
                </a:solidFill>
                <a:latin typeface="Segoe UI"/>
              </a:rPr>
              <a:t>Możesz pokazać wyniki każdemu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669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Segoe UI"/>
              </a:rPr>
              <a:t>prosta wizualizacja, zero technicznego żargonu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928187" y="550507"/>
            <a:ext cx="4114800" cy="41148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47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5400" b="1" dirty="0" smtClean="0">
                <a:solidFill>
                  <a:srgbClr val="FFFFFF"/>
                </a:solidFill>
                <a:latin typeface="Segoe UI"/>
              </a:rPr>
              <a:t>DEMO</a:t>
            </a:r>
            <a:endParaRPr sz="54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2C55E"/>
                </a:solidFill>
                <a:latin typeface="Segoe UI"/>
              </a:rPr>
              <a:t>Dziękujemy za uwagę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1717A"/>
                </a:solidFill>
                <a:latin typeface="Segoe UI"/>
              </a:rPr>
              <a:t>Aplikacja: http://localhost:3000   ·   GitHub: MateuszCaputa/KH26-app   ·   KrakHack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849</Words>
  <Application>Microsoft Office PowerPoint</Application>
  <PresentationFormat>Niestandardowy</PresentationFormat>
  <Paragraphs>174</Paragraphs>
  <Slides>14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subject/>
  <dc:creator/>
  <cp:keywords/>
  <dc:description>generated using python-pptx</dc:description>
  <cp:lastModifiedBy>User</cp:lastModifiedBy>
  <cp:revision>7</cp:revision>
  <dcterms:created xsi:type="dcterms:W3CDTF">2013-01-27T09:14:16Z</dcterms:created>
  <dcterms:modified xsi:type="dcterms:W3CDTF">2026-03-28T16:12:17Z</dcterms:modified>
  <cp:category/>
</cp:coreProperties>
</file>